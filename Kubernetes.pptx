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21.xml" ContentType="application/vnd.openxmlformats-officedocument.presentationml.notes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626739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6961705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205028" name="Google Shape;83;p:notes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444776" name="Google Shape;84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660067" name="Google Shape;89;g35434407a22_0_5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974792" name="Google Shape;90;g35434407a22_0_5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147484" name="Google Shape;95;g35434407a22_0_896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166956" name="Google Shape;96;g35434407a22_0_89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249051" name="Google Shape;102;g35434407a22_0_90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351604" name="Google Shape;103;g35434407a22_0_90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969449" name="Google Shape;108;g35434407a22_0_90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273431" name="Google Shape;109;g35434407a22_0_90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058049" name="Google Shape;115;g35434407a22_0_916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0529" name="Google Shape;116;g35434407a22_0_91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351358" name="Google Shape;122;g35434407a22_0_923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985586" name="Google Shape;123;g35434407a22_0_92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630220" name="Google Shape;129;g35434407a22_0_93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593402" name="Google Shape;130;g35434407a22_0_93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137517" name="Google Shape;136;g35434407a22_0_93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770732" name="Google Shape;137;g35434407a22_0_93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057751" name="Google Shape;143;g35434407a22_0_96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508024" name="Google Shape;144;g35434407a22_0_96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574204" name="Google Shape;150;g35434407a22_0_94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021534" name="Google Shape;151;g35434407a22_0_94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673798" name="Google Shape;157;g35434407a22_0_953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082616" name="Google Shape;158;g35434407a22_0_95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740953" name="Google Shape;163;g35434407a22_0_95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576887" name="Google Shape;164;g35434407a22_0_95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356576" name="Google Shape;170;g35434407a22_0_97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830436" name="Google Shape;171;g35434407a22_0_97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662037" name="Google Shape;177;g35434407a22_0_98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981706" name="Google Shape;178;g35434407a22_0_98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377075" name="Google Shape;183;g35434407a22_0_98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256638" name="Google Shape;184;g35434407a22_0_98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282999" name="Google Shape;190;g35434407a22_0_99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306167" name="Google Shape;191;g35434407a22_0_99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83762" name="Google Shape;196;g35434407a22_0_100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006354" name="Google Shape;197;g35434407a22_0_100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831262" name="Google Shape;203;g35434407a22_0_102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11876" name="Google Shape;204;g35434407a22_0_102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617081" name="Google Shape;210;g35434407a22_0_1031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606645" name="Google Shape;211;g35434407a22_0_103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678569" name="Google Shape;216;g35434407a22_0_1041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529566" name="Google Shape;217;g35434407a22_0_104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176209" name="Google Shape;10;p2"/>
          <p:cNvSpPr/>
          <p:nvPr/>
        </p:nvSpPr>
        <p:spPr bwMode="auto"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0182043" name="Google Shape;11;p2"/>
          <p:cNvGrpSpPr/>
          <p:nvPr/>
        </p:nvGrpSpPr>
        <p:grpSpPr bwMode="auto"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94989349" name="Google Shape;14;p2"/>
          <p:cNvSpPr txBox="1"/>
          <p:nvPr>
            <p:ph type="ctrTitle"/>
          </p:nvPr>
        </p:nvSpPr>
        <p:spPr bwMode="auto"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619910843" name="Google Shape;15;p2"/>
          <p:cNvSpPr txBox="1"/>
          <p:nvPr>
            <p:ph type="subTitle" idx="1"/>
          </p:nvPr>
        </p:nvSpPr>
        <p:spPr bwMode="auto"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306422325" name="Google Shape;16;p2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bg>
      <p:bgPr shadeToTitle="0">
        <a:solidFill>
          <a:schemeClr val="dk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6661591" name="Google Shape;18;p3"/>
          <p:cNvGrpSpPr/>
          <p:nvPr/>
        </p:nvGrpSpPr>
        <p:grpSpPr bwMode="auto"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456782458" name="Google Shape;21;p3"/>
          <p:cNvSpPr txBox="1"/>
          <p:nvPr>
            <p:ph type="title"/>
          </p:nvPr>
        </p:nvSpPr>
        <p:spPr bwMode="auto">
          <a:xfrm>
            <a:off x="729450" y="1322450"/>
            <a:ext cx="7688400" cy="1518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74039014" name="Google Shape;22;p3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531069" name="Google Shape;24;p4"/>
          <p:cNvSpPr/>
          <p:nvPr/>
        </p:nvSpPr>
        <p:spPr bwMode="auto"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18670080" name="Google Shape;25;p4"/>
          <p:cNvGrpSpPr/>
          <p:nvPr/>
        </p:nvGrpSpPr>
        <p:grpSpPr bwMode="auto"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974919804" name="Google Shape;28;p4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endParaRPr/>
          </a:p>
        </p:txBody>
      </p:sp>
      <p:sp>
        <p:nvSpPr>
          <p:cNvPr id="376377785" name="Google Shape;29;p4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4760794" name="Google Shape;30;p4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199298" name="Google Shape;32;p5"/>
          <p:cNvSpPr/>
          <p:nvPr/>
        </p:nvSpPr>
        <p:spPr bwMode="auto"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082836725" name="Google Shape;33;p5"/>
          <p:cNvGrpSpPr/>
          <p:nvPr/>
        </p:nvGrpSpPr>
        <p:grpSpPr bwMode="auto"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909916591" name="Google Shape;36;p5"/>
          <p:cNvSpPr txBox="1"/>
          <p:nvPr>
            <p:ph type="title"/>
          </p:nvPr>
        </p:nvSpPr>
        <p:spPr bwMode="auto"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endParaRPr/>
          </a:p>
        </p:txBody>
      </p:sp>
      <p:sp>
        <p:nvSpPr>
          <p:cNvPr id="143793461" name="Google Shape;37;p5"/>
          <p:cNvSpPr txBox="1"/>
          <p:nvPr>
            <p:ph type="body" idx="1"/>
          </p:nvPr>
        </p:nvSpPr>
        <p:spPr bwMode="auto"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4352262" name="Google Shape;38;p5"/>
          <p:cNvSpPr txBox="1"/>
          <p:nvPr>
            <p:ph type="body" idx="2"/>
          </p:nvPr>
        </p:nvSpPr>
        <p:spPr bwMode="auto"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3854747" name="Google Shape;39;p5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472008" name="Google Shape;41;p6"/>
          <p:cNvSpPr/>
          <p:nvPr/>
        </p:nvSpPr>
        <p:spPr bwMode="auto"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912527827" name="Google Shape;42;p6"/>
          <p:cNvGrpSpPr/>
          <p:nvPr/>
        </p:nvGrpSpPr>
        <p:grpSpPr bwMode="auto"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524251595" name="Google Shape;45;p6"/>
          <p:cNvSpPr txBox="1"/>
          <p:nvPr>
            <p:ph type="title"/>
          </p:nvPr>
        </p:nvSpPr>
        <p:spPr bwMode="auto"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endParaRPr/>
          </a:p>
        </p:txBody>
      </p:sp>
      <p:sp>
        <p:nvSpPr>
          <p:cNvPr id="1244570499" name="Google Shape;46;p6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959892" name="Google Shape;48;p7"/>
          <p:cNvSpPr/>
          <p:nvPr/>
        </p:nvSpPr>
        <p:spPr bwMode="auto"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755701346" name="Google Shape;49;p7"/>
          <p:cNvGrpSpPr/>
          <p:nvPr/>
        </p:nvGrpSpPr>
        <p:grpSpPr bwMode="auto"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107469808" name="Google Shape;52;p7"/>
          <p:cNvSpPr txBox="1"/>
          <p:nvPr>
            <p:ph type="title"/>
          </p:nvPr>
        </p:nvSpPr>
        <p:spPr bwMode="auto"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endParaRPr/>
          </a:p>
        </p:txBody>
      </p:sp>
      <p:sp>
        <p:nvSpPr>
          <p:cNvPr id="2082545864" name="Google Shape;53;p7"/>
          <p:cNvSpPr txBox="1"/>
          <p:nvPr>
            <p:ph type="body" idx="1"/>
          </p:nvPr>
        </p:nvSpPr>
        <p:spPr bwMode="auto"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8748408" name="Google Shape;54;p7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77086696" name="Google Shape;56;p8"/>
          <p:cNvGrpSpPr/>
          <p:nvPr/>
        </p:nvGrpSpPr>
        <p:grpSpPr bwMode="auto">
          <a:xfrm>
            <a:off x="830391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320994149" name="Google Shape;59;p8"/>
          <p:cNvSpPr txBox="1"/>
          <p:nvPr>
            <p:ph type="title"/>
          </p:nvPr>
        </p:nvSpPr>
        <p:spPr bwMode="auto"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92963164" name="Google Shape;60;p8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900787" name="Google Shape;62;p9"/>
          <p:cNvSpPr/>
          <p:nvPr/>
        </p:nvSpPr>
        <p:spPr bwMode="auto"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407110652" name="Google Shape;63;p9"/>
          <p:cNvGrpSpPr/>
          <p:nvPr/>
        </p:nvGrpSpPr>
        <p:grpSpPr bwMode="auto">
          <a:xfrm>
            <a:off x="830391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861726349" name="Google Shape;66;p9"/>
          <p:cNvSpPr txBox="1"/>
          <p:nvPr>
            <p:ph type="title"/>
          </p:nvPr>
        </p:nvSpPr>
        <p:spPr bwMode="auto"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endParaRPr/>
          </a:p>
        </p:txBody>
      </p:sp>
      <p:sp>
        <p:nvSpPr>
          <p:cNvPr id="2077396027" name="Google Shape;67;p9"/>
          <p:cNvSpPr txBox="1"/>
          <p:nvPr>
            <p:ph type="subTitle" idx="1"/>
          </p:nvPr>
        </p:nvSpPr>
        <p:spPr bwMode="auto"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482401841" name="Google Shape;68;p9"/>
          <p:cNvSpPr txBox="1"/>
          <p:nvPr>
            <p:ph type="body" idx="2"/>
          </p:nvPr>
        </p:nvSpPr>
        <p:spPr bwMode="auto"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2184105" name="Google Shape;69;p9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807225" name="Google Shape;71;p10"/>
          <p:cNvSpPr txBox="1"/>
          <p:nvPr>
            <p:ph type="body" idx="1"/>
          </p:nvPr>
        </p:nvSpPr>
        <p:spPr bwMode="auto"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44367538" name="Google Shape;72;p10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bg>
      <p:bgPr shadeToTitle="0">
        <a:solidFill>
          <a:schemeClr val="dk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8108178" name="Google Shape;74;p11"/>
          <p:cNvGrpSpPr/>
          <p:nvPr/>
        </p:nvGrpSpPr>
        <p:grpSpPr bwMode="auto">
          <a:xfrm>
            <a:off x="830391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 bwMode="auto"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 bwMode="auto"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670406027" name="Google Shape;77;p11"/>
          <p:cNvSpPr txBox="1"/>
          <p:nvPr>
            <p:ph type="title" hasCustomPrompt="1"/>
          </p:nvPr>
        </p:nvSpPr>
        <p:spPr bwMode="auto"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088641872" name="Google Shape;78;p11"/>
          <p:cNvSpPr txBox="1"/>
          <p:nvPr>
            <p:ph type="body" idx="1"/>
          </p:nvPr>
        </p:nvSpPr>
        <p:spPr bwMode="auto"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78677679" name="Google Shape;79;p11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923909" name="Google Shape;81;p12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treamlin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69115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108803503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1pPr>
            <a:lvl2pPr marL="914400" lvl="1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marL="1371600" lvl="2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marL="1828800" lvl="3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marL="2286000" lvl="4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marL="2743200" lvl="5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marL="3200400" lvl="6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marL="3657600" lvl="7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marL="4114800" lvl="8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60157178" name="Google Shape;8;p1"/>
          <p:cNvSpPr txBox="1"/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kubernetes/kubernetes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kubernetes-sigs/metrics-server" TargetMode="External"/><Relationship Id="rId4" Type="http://schemas.openxmlformats.org/officeDocument/2006/relationships/image" Target="../media/image1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593181" name="Google Shape;86;p13"/>
          <p:cNvSpPr txBox="1"/>
          <p:nvPr>
            <p:ph type="ctrTitle"/>
          </p:nvPr>
        </p:nvSpPr>
        <p:spPr bwMode="auto"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vi"/>
              <a:t> Introduction to Kubernetes</a:t>
            </a:r>
            <a:endParaRPr/>
          </a:p>
        </p:txBody>
      </p:sp>
      <p:sp>
        <p:nvSpPr>
          <p:cNvPr id="1056482234" name="Google Shape;87;p13"/>
          <p:cNvSpPr txBox="1"/>
          <p:nvPr>
            <p:ph type="subTitle" idx="1"/>
          </p:nvPr>
        </p:nvSpPr>
        <p:spPr bwMode="auto"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69731" name="Google Shape;92;p14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77189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  <a:defRPr/>
            </a:pPr>
            <a:r>
              <a:rPr lang="vi"/>
              <a:t>The Problems</a:t>
            </a:r>
            <a:endParaRPr/>
          </a:p>
        </p:txBody>
      </p:sp>
      <p:sp>
        <p:nvSpPr>
          <p:cNvPr id="1364532868" name="Google Shape;93;p14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pPr>
            <a:r>
              <a:rPr lang="vi"/>
              <a:t>Monolithic -&gt; Microservices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pPr>
            <a:r>
              <a:rPr lang="vi"/>
              <a:t>R</a:t>
            </a:r>
            <a:r>
              <a:rPr lang="vi"/>
              <a:t>esilient - EG: s</a:t>
            </a:r>
            <a:r>
              <a:rPr lang="vi"/>
              <a:t>ervice downtime -&gt; Auto rollback or re-run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pPr>
            <a:r>
              <a:rPr lang="vi"/>
              <a:t>Horizontal Auto-scaling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pPr>
            <a:r>
              <a:rPr lang="vi"/>
              <a:t>Better management tool - by the Control-Plane 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pPr>
            <a:r>
              <a:rPr lang="vi"/>
              <a:t>…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vi"/>
              <a:t>⇒ Using Container Orchestration like Kubernetes solve these problems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069298" name="Google Shape;98;p15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II. What is K8s</a:t>
            </a:r>
            <a:endParaRPr/>
          </a:p>
        </p:txBody>
      </p:sp>
      <p:sp>
        <p:nvSpPr>
          <p:cNvPr id="581172377" name="Google Shape;99;p15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Container Orchestration tool.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Created by Google, </a:t>
            </a:r>
            <a:r>
              <a:rPr lang="vi" b="1"/>
              <a:t>open source</a:t>
            </a:r>
            <a:r>
              <a:rPr lang="vi"/>
              <a:t> in 2014.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Help manage </a:t>
            </a:r>
            <a:r>
              <a:rPr lang="vi"/>
              <a:t>thousands</a:t>
            </a:r>
            <a:r>
              <a:rPr lang="vi"/>
              <a:t> nodes/container.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/>
              <a:t>Alternatives to Kubernetes: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vi"/>
              <a:t>Openshift, Hashicorp Nomad</a:t>
            </a:r>
            <a:endParaRPr/>
          </a:p>
        </p:txBody>
      </p:sp>
      <p:pic>
        <p:nvPicPr>
          <p:cNvPr id="1959536854" name="Google Shape;100;p1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486725" y="1497925"/>
            <a:ext cx="4525800" cy="312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791520" name="Google Shape;105;p16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**Important!</a:t>
            </a:r>
            <a:r>
              <a:rPr lang="vi"/>
              <a:t> What Cloudrity (SDF) used</a:t>
            </a:r>
            <a:endParaRPr/>
          </a:p>
        </p:txBody>
      </p:sp>
      <p:sp>
        <p:nvSpPr>
          <p:cNvPr id="845034332" name="Google Shape;106;p16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Link Github: </a:t>
            </a:r>
            <a:r>
              <a:rPr lang="vi" u="sng">
                <a:solidFill>
                  <a:schemeClr val="hlink"/>
                </a:solidFill>
                <a:hlinkClick r:id="rId3" tooltip="https://github.com/kubernetes/kubernetes"/>
              </a:rPr>
              <a:t>https://github.com/kubernetes/kubernetes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Star: 115k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/>
              <a:t>⇒ It not perfect. It design for portable, so it missing so many features like: Service </a:t>
            </a:r>
            <a:r>
              <a:rPr lang="vi"/>
              <a:t>Load Balancing</a:t>
            </a:r>
            <a:r>
              <a:rPr lang="vi"/>
              <a:t>, Storage, Networking Service,...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vi"/>
              <a:t>=&gt; Using </a:t>
            </a:r>
            <a:r>
              <a:rPr lang="vi" b="1"/>
              <a:t>K3s</a:t>
            </a:r>
            <a:r>
              <a:rPr lang="vi"/>
              <a:t>, RKE2, Microk8s, AWS EKS, GKE (google).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246373" name="Google Shape;111;p17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</p:txBody>
      </p:sp>
      <p:sp>
        <p:nvSpPr>
          <p:cNvPr id="1238779486" name="Google Shape;112;p17"/>
          <p:cNvSpPr txBox="1"/>
          <p:nvPr>
            <p:ph type="body" idx="1"/>
          </p:nvPr>
        </p:nvSpPr>
        <p:spPr bwMode="auto">
          <a:xfrm>
            <a:off x="729450" y="2078875"/>
            <a:ext cx="24510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pPr>
            <a:r>
              <a:rPr lang="vi" b="1"/>
              <a:t>Overview</a:t>
            </a:r>
            <a:endParaRPr b="1"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Control-Plane &amp; Worker</a:t>
            </a:r>
            <a:endParaRPr/>
          </a:p>
          <a:p>
            <a:pPr marL="457200" lvl="0" indent="-29845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  <a:defRPr/>
            </a:pPr>
            <a:r>
              <a:rPr lang="vi"/>
              <a:t>API Server, etcd, Scheduler, Controller, kubelet, kube-proxy</a:t>
            </a:r>
            <a:endParaRPr/>
          </a:p>
        </p:txBody>
      </p:sp>
      <p:pic>
        <p:nvPicPr>
          <p:cNvPr id="223025555" name="Google Shape;113;p17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06000" y="1797350"/>
            <a:ext cx="5778125" cy="325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301217" name="Google Shape;118;p18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</p:txBody>
      </p:sp>
      <p:sp>
        <p:nvSpPr>
          <p:cNvPr id="1841997422" name="Google Shape;119;p18"/>
          <p:cNvSpPr txBox="1"/>
          <p:nvPr>
            <p:ph type="body" idx="1"/>
          </p:nvPr>
        </p:nvSpPr>
        <p:spPr bwMode="auto">
          <a:xfrm>
            <a:off x="729450" y="2078875"/>
            <a:ext cx="3366300" cy="25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2. Pod</a:t>
            </a:r>
            <a:endParaRPr b="1"/>
          </a:p>
          <a:p>
            <a:pPr marL="457200" lvl="0" indent="-311150" algn="l">
              <a:spcBef>
                <a:spcPts val="120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Smallest Unit of k8s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It has container/our application inside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Every Pod running has assigned one internal-IP</a:t>
            </a:r>
            <a:endParaRPr/>
          </a:p>
        </p:txBody>
      </p:sp>
      <p:pic>
        <p:nvPicPr>
          <p:cNvPr id="54797288" name="Google Shape;120;p1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187125" y="1721400"/>
            <a:ext cx="4557601" cy="33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842322" name="Google Shape;125;p19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</p:txBody>
      </p:sp>
      <p:sp>
        <p:nvSpPr>
          <p:cNvPr id="480258670" name="Google Shape;126;p19"/>
          <p:cNvSpPr txBox="1"/>
          <p:nvPr>
            <p:ph type="body" idx="1"/>
          </p:nvPr>
        </p:nvSpPr>
        <p:spPr bwMode="auto">
          <a:xfrm>
            <a:off x="729450" y="2078875"/>
            <a:ext cx="3366300" cy="25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3</a:t>
            </a:r>
            <a:r>
              <a:rPr lang="vi" b="1"/>
              <a:t>. Deployment + Replicasets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i="1"/>
              <a:t>The answer of How K8s deploy/update applications. (Backend service, </a:t>
            </a:r>
            <a:r>
              <a:rPr lang="vi" i="1"/>
              <a:t>Scheduler Job</a:t>
            </a:r>
            <a:r>
              <a:rPr lang="vi" i="1"/>
              <a:t>…)</a:t>
            </a:r>
            <a:endParaRPr i="1"/>
          </a:p>
          <a:p>
            <a:pPr marL="457200" lvl="0" indent="-311150" algn="l">
              <a:spcBef>
                <a:spcPts val="120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Deployment: Which App, Version, Names, how many RAM/CPU,...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Replica Sets</a:t>
            </a:r>
            <a:r>
              <a:rPr lang="vi"/>
              <a:t>: ensure that we really have n instance of  Pod.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89402729" name="Google Shape;127;p1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400550" y="1853849"/>
            <a:ext cx="4743451" cy="2665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01949" name="Google Shape;132;p20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</p:txBody>
      </p:sp>
      <p:sp>
        <p:nvSpPr>
          <p:cNvPr id="2072319176" name="Google Shape;133;p20"/>
          <p:cNvSpPr txBox="1"/>
          <p:nvPr>
            <p:ph type="body" idx="1"/>
          </p:nvPr>
        </p:nvSpPr>
        <p:spPr bwMode="auto">
          <a:xfrm>
            <a:off x="729450" y="2078875"/>
            <a:ext cx="3366300" cy="25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4. Service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i="1"/>
              <a:t>It just a networking load balancer.</a:t>
            </a:r>
            <a:endParaRPr i="1"/>
          </a:p>
          <a:p>
            <a:pPr marL="457200" lvl="0" indent="-311150" algn="l">
              <a:spcBef>
                <a:spcPts val="120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Every request go to service first, then go to the pod after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Support service discovery via service-name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550521638" name="Google Shape;134;p2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321950" y="1910300"/>
            <a:ext cx="4243113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107863" name="Google Shape;139;p21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</p:txBody>
      </p:sp>
      <p:sp>
        <p:nvSpPr>
          <p:cNvPr id="623303888" name="Google Shape;140;p21"/>
          <p:cNvSpPr txBox="1"/>
          <p:nvPr>
            <p:ph type="body" idx="1"/>
          </p:nvPr>
        </p:nvSpPr>
        <p:spPr bwMode="auto">
          <a:xfrm>
            <a:off x="729450" y="2078875"/>
            <a:ext cx="4067100" cy="25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4.1 Service Types</a:t>
            </a:r>
            <a:endParaRPr b="1"/>
          </a:p>
          <a:p>
            <a:pPr marL="457200" lvl="0" indent="-311150" algn="l">
              <a:spcBef>
                <a:spcPts val="120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ClusterIP</a:t>
            </a:r>
            <a:r>
              <a:rPr lang="vi"/>
              <a:t>: Assign private IP that only resource at K8s cluster can reach out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NodePort</a:t>
            </a:r>
            <a:r>
              <a:rPr lang="vi"/>
              <a:t>: Access the cluster via &lt;node-ip&gt;:port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LoadBalancer</a:t>
            </a:r>
            <a:r>
              <a:rPr lang="vi"/>
              <a:t>: produce a Public IP that outside can go to K8s cluster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ExternalName</a:t>
            </a:r>
            <a:r>
              <a:rPr lang="vi"/>
              <a:t>: map service to domain.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992372860" name="Google Shape;141;p21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5369850" y="744375"/>
            <a:ext cx="3227250" cy="419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502020" name="Google Shape;146;p22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</p:txBody>
      </p:sp>
      <p:sp>
        <p:nvSpPr>
          <p:cNvPr id="1666939958" name="Google Shape;147;p22"/>
          <p:cNvSpPr txBox="1"/>
          <p:nvPr>
            <p:ph type="body" idx="1"/>
          </p:nvPr>
        </p:nvSpPr>
        <p:spPr bwMode="auto">
          <a:xfrm>
            <a:off x="640900" y="2006250"/>
            <a:ext cx="3498900" cy="25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4.2 Ingress &amp; Gateway API</a:t>
            </a:r>
            <a:endParaRPr b="1"/>
          </a:p>
          <a:p>
            <a:pPr marL="457200" lvl="0" indent="-311150" algn="l">
              <a:spcBef>
                <a:spcPts val="120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Ingress</a:t>
            </a:r>
            <a:r>
              <a:rPr lang="vi"/>
              <a:t>: </a:t>
            </a:r>
            <a:r>
              <a:rPr lang="vi"/>
              <a:t>Single entry-point for accessing to the cluster instead of create </a:t>
            </a:r>
            <a:r>
              <a:rPr lang="vi"/>
              <a:t>Load Balancer</a:t>
            </a:r>
            <a:r>
              <a:rPr lang="vi"/>
              <a:t> for every service (it waste of Public IP)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Gateway API</a:t>
            </a:r>
            <a:r>
              <a:rPr lang="vi"/>
              <a:t>: newer version of Ingress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  <a:p>
            <a:pPr marL="45720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979586647" name="Google Shape;148;p22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998275" y="1930050"/>
            <a:ext cx="5145723" cy="26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629501" name="Google Shape;153;p23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08318848" name="Google Shape;154;p23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5.</a:t>
            </a:r>
            <a:r>
              <a:rPr lang="vi" b="1"/>
              <a:t> Namespace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i="1"/>
              <a:t>Separate resources</a:t>
            </a:r>
            <a:endParaRPr i="1"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51473393" name="Google Shape;155;p23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034100" y="1822225"/>
            <a:ext cx="4101900" cy="332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346437" name="Google Shape;160;p24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2262540" name="Google Shape;161;p24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6. Configmap + secret</a:t>
            </a:r>
            <a:endParaRPr b="1"/>
          </a:p>
          <a:p>
            <a:pPr marL="457200" lvl="0" indent="-311150" algn="l">
              <a:spcBef>
                <a:spcPts val="120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Configmap: </a:t>
            </a:r>
            <a:r>
              <a:rPr lang="vi"/>
              <a:t>file to mount inside Pod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 b="1"/>
              <a:t>Secret: </a:t>
            </a:r>
            <a:r>
              <a:rPr lang="vi"/>
              <a:t>env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902054" name="Google Shape;166;p25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56265864" name="Google Shape;167;p25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vi" b="1"/>
              <a:t>7. </a:t>
            </a:r>
            <a:r>
              <a:rPr lang="vi" b="1"/>
              <a:t>Persistent</a:t>
            </a:r>
            <a:r>
              <a:rPr lang="vi" b="1"/>
              <a:t> Volume + Persistent Volume Claim</a:t>
            </a:r>
            <a:endParaRPr/>
          </a:p>
        </p:txBody>
      </p:sp>
      <p:pic>
        <p:nvPicPr>
          <p:cNvPr id="1174256277" name="Google Shape;168;p2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793450" y="2372275"/>
            <a:ext cx="4268700" cy="27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545542" name="Google Shape;173;p26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682907" name="Google Shape;174;p26"/>
          <p:cNvSpPr txBox="1"/>
          <p:nvPr>
            <p:ph type="body" idx="1"/>
          </p:nvPr>
        </p:nvSpPr>
        <p:spPr bwMode="auto">
          <a:xfrm>
            <a:off x="729450" y="2078875"/>
            <a:ext cx="36981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8. Horizontal Pod Autoscaler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i="1"/>
              <a:t>It make k8s know when/what strategy to scale the pod, define </a:t>
            </a:r>
            <a:r>
              <a:rPr lang="vi" i="1"/>
              <a:t>minimum/maximum</a:t>
            </a:r>
            <a:r>
              <a:rPr lang="vi" i="1"/>
              <a:t> replicas</a:t>
            </a:r>
            <a:endParaRPr i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i="1"/>
              <a:t>** Must installed Metrics server before use it</a:t>
            </a:r>
            <a:endParaRPr i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i="1" u="sng">
                <a:solidFill>
                  <a:schemeClr val="hlink"/>
                </a:solidFill>
                <a:hlinkClick r:id="rId3" tooltip="https://github.com/kubernetes-sigs/metrics-server"/>
              </a:rPr>
              <a:t>https://github.com/kubernetes-sigs/metrics-server</a:t>
            </a:r>
            <a:endParaRPr i="1"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i="1"/>
          </a:p>
        </p:txBody>
      </p:sp>
      <p:pic>
        <p:nvPicPr>
          <p:cNvPr id="1724548833" name="Google Shape;175;p26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211050" y="1814400"/>
            <a:ext cx="4932949" cy="268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380978" name="Google Shape;180;p27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III. Kubernetes Architecture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91034061" name="Google Shape;181;p27"/>
          <p:cNvSpPr txBox="1"/>
          <p:nvPr>
            <p:ph type="body" idx="1"/>
          </p:nvPr>
        </p:nvSpPr>
        <p:spPr bwMode="auto">
          <a:xfrm>
            <a:off x="729450" y="2078875"/>
            <a:ext cx="7727400" cy="27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b="1"/>
              <a:t>9. Many More..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i="1"/>
              <a:t>install kubectl and kubectl completions, then type:</a:t>
            </a:r>
            <a:endParaRPr i="1"/>
          </a:p>
          <a:p>
            <a:pPr marL="457200" lvl="0" indent="-304958" algn="l">
              <a:spcBef>
                <a:spcPts val="1200"/>
              </a:spcBef>
              <a:spcAft>
                <a:spcPts val="0"/>
              </a:spcAft>
              <a:buSzPct val="100000"/>
              <a:buChar char="-"/>
              <a:defRPr/>
            </a:pPr>
            <a:r>
              <a:rPr lang="vi"/>
              <a:t> kubectl get + &lt;tab&gt; </a:t>
            </a:r>
            <a:endParaRPr/>
          </a:p>
          <a:p>
            <a:pPr marL="457200" lvl="0" indent="-304958" algn="l">
              <a:spcBef>
                <a:spcPts val="0"/>
              </a:spcBef>
              <a:spcAft>
                <a:spcPts val="0"/>
              </a:spcAft>
              <a:buSzPct val="100000"/>
              <a:buChar char="-"/>
              <a:defRPr/>
            </a:pPr>
            <a:r>
              <a:rPr lang="vi"/>
              <a:t>-&gt; We will see many others resources, 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/>
              <a:t>EG: cluster role binding, cluster role, event, jobs. job batch, network policy, </a:t>
            </a:r>
            <a:r>
              <a:rPr lang="vi" b="1"/>
              <a:t>CRD</a:t>
            </a:r>
            <a:r>
              <a:rPr lang="vi"/>
              <a:t>,...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/>
              <a:t>⇒ CDR is CustomResourceDefination, means we can create our own things like Pod</a:t>
            </a:r>
            <a:r>
              <a:rPr lang="en-US"/>
              <a:t>/Service</a:t>
            </a:r>
            <a:r>
              <a:rPr lang="vi"/>
              <a:t> but different names.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/>
              <a:t>EG: </a:t>
            </a:r>
            <a:r>
              <a:rPr lang="vi" b="1"/>
              <a:t>SDF use Traefik ingressroute, which is CRD created from Traefik</a:t>
            </a:r>
            <a:r>
              <a:rPr lang="en-US" b="1"/>
              <a:t> -&gt; alternatives to ingress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155348" name="Google Shape;186;p28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IV</a:t>
            </a:r>
            <a:r>
              <a:rPr lang="vi"/>
              <a:t>. Kubernetes common practice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0441564" name="Google Shape;187;p28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/>
            </a:pPr>
            <a:r>
              <a:rPr lang="vi" b="1"/>
              <a:t>Sample</a:t>
            </a:r>
            <a:endParaRPr b="1"/>
          </a:p>
        </p:txBody>
      </p:sp>
      <p:pic>
        <p:nvPicPr>
          <p:cNvPr id="1388224944" name="Google Shape;188;p2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221225" y="1750525"/>
            <a:ext cx="5874075" cy="310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086672" name="Google Shape;193;p29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IV. Kubernetes common practice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6666813" name="Google Shape;194;p29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vi"/>
              <a:t>2. </a:t>
            </a:r>
            <a:r>
              <a:rPr lang="vi" b="1"/>
              <a:t>Deployment Flow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285655" name="Google Shape;199;p30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IV. Kubernetes common practice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03000679" name="Google Shape;200;p30"/>
          <p:cNvSpPr txBox="1"/>
          <p:nvPr>
            <p:ph type="body" idx="1"/>
          </p:nvPr>
        </p:nvSpPr>
        <p:spPr bwMode="auto">
          <a:xfrm>
            <a:off x="729450" y="2078875"/>
            <a:ext cx="27831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3. </a:t>
            </a:r>
            <a:r>
              <a:rPr lang="vi" b="1"/>
              <a:t>Logging + Monitoring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sz="1100" i="1">
                <a:solidFill>
                  <a:srgbClr val="666666"/>
                </a:solidFill>
              </a:rPr>
              <a:t>kubectl logs, kubectl top</a:t>
            </a:r>
            <a:endParaRPr sz="1100" i="1">
              <a:solidFill>
                <a:srgbClr val="666666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vi" sz="1100" i="1">
                <a:solidFill>
                  <a:srgbClr val="666666"/>
                </a:solidFill>
              </a:rPr>
              <a:t>and other common tools like</a:t>
            </a:r>
            <a:endParaRPr sz="1100" i="1">
              <a:solidFill>
                <a:srgbClr val="666666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vi" sz="1100" i="1">
                <a:solidFill>
                  <a:srgbClr val="666666"/>
                </a:solidFill>
              </a:rPr>
              <a:t>ELK Stack, Prometheus, grafana dashboard, fluentbit log shipping</a:t>
            </a:r>
            <a:endParaRPr sz="1100" i="1">
              <a:solidFill>
                <a:srgbClr val="666666"/>
              </a:solidFill>
            </a:endParaRPr>
          </a:p>
        </p:txBody>
      </p:sp>
      <p:pic>
        <p:nvPicPr>
          <p:cNvPr id="2094337089" name="Google Shape;201;p3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14225" y="1753213"/>
            <a:ext cx="5829775" cy="29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36390" name="Google Shape;206;p31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IV. Kubernetes common practice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00999149" name="Google Shape;207;p31"/>
          <p:cNvSpPr txBox="1"/>
          <p:nvPr>
            <p:ph type="body" idx="1"/>
          </p:nvPr>
        </p:nvSpPr>
        <p:spPr bwMode="auto">
          <a:xfrm>
            <a:off x="729450" y="2078875"/>
            <a:ext cx="7262399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4. </a:t>
            </a:r>
            <a:r>
              <a:rPr lang="vi" b="1"/>
              <a:t>Service Mesh Layer Add-ons</a:t>
            </a:r>
            <a:endParaRPr b="1"/>
          </a:p>
          <a:p>
            <a:pPr marL="457200" lvl="0" indent="-311150" algn="l">
              <a:spcBef>
                <a:spcPts val="120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Traffic Management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Observability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Security</a:t>
            </a:r>
            <a:endParaRPr/>
          </a:p>
          <a:p>
            <a:pPr marL="457200" lvl="0" indent="-311150" algn="l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pPr>
            <a:r>
              <a:rPr lang="vi"/>
              <a:t>Reliability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1100" i="1">
              <a:solidFill>
                <a:srgbClr val="666666"/>
              </a:solidFill>
            </a:endParaRPr>
          </a:p>
        </p:txBody>
      </p:sp>
      <p:pic>
        <p:nvPicPr>
          <p:cNvPr id="171676218" name="Google Shape;208;p31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235575" y="1695525"/>
            <a:ext cx="5981373" cy="341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026973" name="Google Shape;213;p32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V. Hands-on, interaction to k8s using kubectl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10049087" name="Google Shape;214;p32"/>
          <p:cNvSpPr txBox="1"/>
          <p:nvPr>
            <p:ph type="body" idx="1"/>
          </p:nvPr>
        </p:nvSpPr>
        <p:spPr bwMode="auto">
          <a:xfrm>
            <a:off x="729450" y="2078875"/>
            <a:ext cx="7262399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 i="1"/>
              <a:t>alternative: </a:t>
            </a:r>
            <a:r>
              <a:rPr lang="vi" b="1" i="1"/>
              <a:t>helm</a:t>
            </a:r>
            <a:r>
              <a:rPr lang="vi" i="1"/>
              <a:t>, </a:t>
            </a:r>
            <a:r>
              <a:rPr lang="vi" b="1" i="1"/>
              <a:t>kustomize</a:t>
            </a:r>
            <a:r>
              <a:rPr lang="vi" i="1"/>
              <a:t> (now builtin with kubectl)</a:t>
            </a:r>
            <a:r>
              <a:rPr lang="vi"/>
              <a:t> </a:t>
            </a:r>
            <a:endParaRPr b="1"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 sz="1100" i="1">
              <a:solidFill>
                <a:srgbClr val="6666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886987" name="Google Shape;219;p33"/>
          <p:cNvSpPr txBox="1"/>
          <p:nvPr>
            <p:ph type="title"/>
          </p:nvPr>
        </p:nvSpPr>
        <p:spPr bwMode="auto"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vi"/>
              <a:t>Thanks for watching</a:t>
            </a:r>
            <a:endParaRPr/>
          </a:p>
        </p:txBody>
      </p:sp>
      <p:sp>
        <p:nvSpPr>
          <p:cNvPr id="1843931036" name="Google Shape;220;p33"/>
          <p:cNvSpPr txBox="1"/>
          <p:nvPr>
            <p:ph type="body" idx="1"/>
          </p:nvPr>
        </p:nvSpPr>
        <p:spPr bwMode="auto"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